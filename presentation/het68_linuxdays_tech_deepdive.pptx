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2377440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3DDC97"/>
                </a:solidFill>
                <a:latin typeface="Calibri"/>
              </a:rPr>
              <a:t>het68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F5F7FA"/>
                </a:solidFill>
                <a:latin typeface="Calibri"/>
              </a:rPr>
              <a:t>Open acoustic sensing on RP2350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A8B3C5"/>
                </a:solidFill>
                <a:latin typeface="Calibri"/>
              </a:rPr>
              <a:t>6× ICS-43434  ·  PIO I2S  ·  TinyUSB UAC2  ·  on-device DOA  ·  FOSS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8B3C5"/>
                </a:solidFill>
                <a:latin typeface="Calibri"/>
              </a:rPr>
              <a:t>LinuxDays 2026  ·  technical deep-dive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09728" cy="50292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8B3C5"/>
                </a:solidFill>
                <a:latin typeface="Calibri"/>
              </a:rPr>
              <a:t>Co dnes rozebereme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DDC97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48132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5F7FA"/>
                </a:solidFill>
                <a:latin typeface="Calibri"/>
              </a:rPr>
              <a:t>PIO I2S na RP2350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78308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A8B3C5"/>
                </a:solidFill>
                <a:latin typeface="Calibri"/>
              </a:rPr>
              <a:t>proč hardware timing, ne bit-bang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04872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DDC97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35000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5F7FA"/>
                </a:solidFill>
                <a:latin typeface="Calibri"/>
              </a:rPr>
              <a:t>TinyUSB UAC2 + upstream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651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A8B3C5"/>
                </a:solidFill>
                <a:latin typeface="Calibri"/>
              </a:rPr>
              <a:t>co jsme poslali zpět do ekosystému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0896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73552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DDC97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2186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5F7FA"/>
                </a:solidFill>
                <a:latin typeface="Calibri"/>
              </a:rPr>
              <a:t>ICS-43434 EOL → 1.8 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5204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A8B3C5"/>
                </a:solidFill>
                <a:latin typeface="Calibri"/>
              </a:rPr>
              <a:t>hardwarový přechod a rizika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77639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42231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DDC97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087367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5F7FA"/>
                </a:solidFill>
                <a:latin typeface="Calibri"/>
              </a:rPr>
              <a:t>DOA timing @ 400 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389119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A8B3C5"/>
                </a:solidFill>
                <a:latin typeface="Calibri"/>
              </a:rPr>
              <a:t>proč hrana krychle a co z toho plyne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4632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010912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DDC97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95604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5F7FA"/>
                </a:solidFill>
                <a:latin typeface="Calibri"/>
              </a:rPr>
              <a:t>PSRAM edge compute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257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A8B3C5"/>
                </a:solidFill>
                <a:latin typeface="Calibri"/>
              </a:rPr>
              <a:t>co běží na zařízení vs. v cloudu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3C5"/>
                </a:solidFill>
                <a:latin typeface="Calibri"/>
              </a:rPr>
              <a:t>het68  ·  LinuxDays 2026  ·  FOSS acoustic sensing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8B3C5"/>
                </a:solidFill>
                <a:latin typeface="Calibri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09728" cy="50292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Calibri"/>
              </a:rPr>
              <a:t>01  ·  PIO I2S na RP2350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8B3C5"/>
                </a:solidFill>
                <a:latin typeface="Calibri"/>
              </a:rPr>
              <a:t>Deterministický audio RX bez bit-bangu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486400" cy="475488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DDC97"/>
                </a:solidFill>
                <a:latin typeface="Calibri"/>
              </a:rPr>
              <a:t>Proč PIO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50292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5F7FA"/>
                </a:solidFill>
                <a:latin typeface="Calibri"/>
              </a:rPr>
              <a:t>▸  I2S potřebuje přesné bit/word clocky — CPU jitter = glitche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5F7FA"/>
                </a:solidFill>
                <a:latin typeface="Calibri"/>
              </a:rPr>
              <a:t>▸  PIO = malý programovatelný state machine vedle CPU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5F7FA"/>
                </a:solidFill>
                <a:latin typeface="Calibri"/>
              </a:rPr>
              <a:t>▸  3× stereo páry → 6 kanálů současně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5F7FA"/>
                </a:solidFill>
                <a:latin typeface="Calibri"/>
              </a:rPr>
              <a:t>▸  DMA tahá sample do RAM bez polling smyčky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5F7FA"/>
                </a:solidFill>
                <a:latin typeface="Calibri"/>
              </a:rPr>
              <a:t>▸  CPU zůstává na DOA / classify / USB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486400" cy="475488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5B9BFF"/>
                </a:solidFill>
                <a:latin typeface="Calibri"/>
              </a:rPr>
              <a:t>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011680"/>
            <a:ext cx="4937760" cy="621792"/>
          </a:xfrm>
          <a:prstGeom prst="roundRect">
            <a:avLst>
              <a:gd name="adj" fmla="val 15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84832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DDC97"/>
                </a:solidFill>
                <a:latin typeface="Calibri"/>
              </a:rPr>
              <a:t>MIC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488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7FA"/>
                </a:solidFill>
                <a:latin typeface="Calibri"/>
              </a:rPr>
              <a:t>ICS-43434 → SCK / WS / SD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743200"/>
            <a:ext cx="4937760" cy="621792"/>
          </a:xfrm>
          <a:prstGeom prst="roundRect">
            <a:avLst>
              <a:gd name="adj" fmla="val 15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816352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DDC97"/>
                </a:solidFill>
                <a:latin typeface="Calibri"/>
              </a:rPr>
              <a:t>PIO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8803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7FA"/>
                </a:solidFill>
                <a:latin typeface="Calibri"/>
              </a:rPr>
              <a:t>I2S RX state machine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474720"/>
            <a:ext cx="4937760" cy="621792"/>
          </a:xfrm>
          <a:prstGeom prst="roundRect">
            <a:avLst>
              <a:gd name="adj" fmla="val 15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547872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DDC97"/>
                </a:solidFill>
                <a:latin typeface="Calibri"/>
              </a:rPr>
              <a:t>DMA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6118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7FA"/>
                </a:solidFill>
                <a:latin typeface="Calibri"/>
              </a:rPr>
              <a:t>sample → RAM 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4206240"/>
            <a:ext cx="4937760" cy="621792"/>
          </a:xfrm>
          <a:prstGeom prst="roundRect">
            <a:avLst>
              <a:gd name="adj" fmla="val 15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4279392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B9BFF"/>
                </a:solidFill>
                <a:latin typeface="Calibri"/>
              </a:rPr>
              <a:t>USB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3434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7FA"/>
                </a:solidFill>
                <a:latin typeface="Calibri"/>
              </a:rPr>
              <a:t>TinyUSB UAC2 frame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4937760"/>
            <a:ext cx="4937760" cy="621792"/>
          </a:xfrm>
          <a:prstGeom prst="roundRect">
            <a:avLst>
              <a:gd name="adj" fmla="val 15000"/>
            </a:avLst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5010912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B9BFF"/>
                </a:solidFill>
                <a:latin typeface="Calibri"/>
              </a:rPr>
              <a:t>DSP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50749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5F7FA"/>
                </a:solidFill>
                <a:latin typeface="Calibri"/>
              </a:rPr>
              <a:t>DOA + classify (side)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3C5"/>
                </a:solidFill>
                <a:latin typeface="Calibri"/>
              </a:rPr>
              <a:t>het68  ·  LinuxDays 2026  ·  FOSS acoustic sensing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8B3C5"/>
                </a:solidFill>
                <a:latin typeface="Calibri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09728" cy="50292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Calibri"/>
              </a:rPr>
              <a:t>02  ·  TinyUSB UAC2 + upstream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8B3C5"/>
                </a:solidFill>
                <a:latin typeface="Calibri"/>
              </a:rPr>
              <a:t>Zařízení jako standardní USB mikrofon — a co jsme vrátili komunitě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DDC97"/>
                </a:solidFill>
                <a:latin typeface="Calibri"/>
              </a:rPr>
              <a:t>Na zařízení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2918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F5F7FA"/>
                </a:solidFill>
                <a:latin typeface="Calibri"/>
              </a:rPr>
              <a:t>▸  UAC2 class-compliant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F5F7FA"/>
                </a:solidFill>
                <a:latin typeface="Calibri"/>
              </a:rPr>
              <a:t>▸  6ch @ 48 kHz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F5F7FA"/>
                </a:solidFill>
                <a:latin typeface="Calibri"/>
              </a:rPr>
              <a:t>▸  Plug &amp; play na Linuxu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F5F7FA"/>
                </a:solidFill>
                <a:latin typeface="Calibri"/>
              </a:rPr>
              <a:t>▸  Žádný proprietární driver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F5F7FA"/>
                </a:solidFill>
                <a:latin typeface="Calibri"/>
              </a:rPr>
              <a:t>▸  Stejný stream pro host i DSP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2588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9BFF"/>
                </a:solidFill>
                <a:latin typeface="Calibri"/>
              </a:rPr>
              <a:t>Upstream hodnota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65960"/>
            <a:ext cx="32918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F5F7FA"/>
                </a:solidFill>
                <a:latin typeface="Calibri"/>
              </a:rPr>
              <a:t>▸  Bugy / edge case UAC2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F5F7FA"/>
                </a:solidFill>
                <a:latin typeface="Calibri"/>
              </a:rPr>
              <a:t>▸  Multi-channel capture path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F5F7FA"/>
                </a:solidFill>
                <a:latin typeface="Calibri"/>
              </a:rPr>
              <a:t>▸  Pico SDK / TinyUSB integrace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F5F7FA"/>
                </a:solidFill>
                <a:latin typeface="Calibri"/>
              </a:rPr>
              <a:t>▸  Reprodukovatelný FOSS stack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F5F7FA"/>
                </a:solidFill>
                <a:latin typeface="Calibri"/>
              </a:rPr>
              <a:t>▸  Jiní staví na stejných základech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566160" cy="475488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5087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B020"/>
                </a:solidFill>
                <a:latin typeface="Calibri"/>
              </a:rPr>
              <a:t>Proč to říct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65960"/>
            <a:ext cx="3200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F5F7FA"/>
                </a:solidFill>
                <a:latin typeface="Calibri"/>
              </a:rPr>
              <a:t>▸  Nejen produkt demo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F5F7FA"/>
                </a:solidFill>
                <a:latin typeface="Calibri"/>
              </a:rPr>
              <a:t>▸  Přínos do ekosystému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F5F7FA"/>
                </a:solidFill>
                <a:latin typeface="Calibri"/>
              </a:rPr>
              <a:t>▸  Transparentní delty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F5F7FA"/>
                </a:solidFill>
                <a:latin typeface="Calibri"/>
              </a:rPr>
              <a:t>▸  LinuxDays = FOSS 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3C5"/>
                </a:solidFill>
                <a:latin typeface="Calibri"/>
              </a:rPr>
              <a:t>het68  ·  LinuxDays 2026  ·  FOSS acoustic sensing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8B3C5"/>
                </a:solidFill>
                <a:latin typeface="Calibri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09728" cy="50292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Calibri"/>
              </a:rPr>
              <a:t>03  ·  ICS-43434 EOL → 1.8 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8B3C5"/>
                </a:solidFill>
                <a:latin typeface="Calibri"/>
              </a:rPr>
              <a:t>Hardwarový přechod, ne jen výměna součástky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640080"/>
          </a:xfrm>
          <a:prstGeom prst="roundRect">
            <a:avLst>
              <a:gd name="adj" fmla="val 10000"/>
            </a:avLst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B020"/>
                </a:solidFill>
                <a:latin typeface="Calibri"/>
              </a:rPr>
              <a:t>⚠  ICS-43434 je EOL  ·  přechod na 1.8 V dig. mikrofon mění celý napájecí a I/O příběh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DDC97"/>
                </a:solidFill>
                <a:latin typeface="Calibri"/>
              </a:rPr>
              <a:t>Dnes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237744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F5F7FA"/>
                </a:solidFill>
                <a:latin typeface="Calibri"/>
              </a:rPr>
              <a:t>▸  3.3 V rail, známá akustika, ověřený DOA stack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19456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4231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9BFF"/>
                </a:solidFill>
                <a:latin typeface="Calibri"/>
              </a:rPr>
              <a:t>Cíl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926080"/>
            <a:ext cx="237744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F5F7FA"/>
                </a:solidFill>
                <a:latin typeface="Calibri"/>
              </a:rPr>
              <a:t>▸  1.8 V dig. mic, nový BOM + level shifting / rail 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19456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4231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6B6B"/>
                </a:solidFill>
                <a:latin typeface="Calibri"/>
              </a:rPr>
              <a:t>Rizika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26080"/>
            <a:ext cx="237744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F5F7FA"/>
                </a:solidFill>
                <a:latin typeface="Calibri"/>
              </a:rPr>
              <a:t>▸  I/O levels, noise, layout, IP67 vent, akustická kalibrace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194560"/>
            <a:ext cx="2743200" cy="347472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24231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A8B3C5"/>
                </a:solidFill>
                <a:latin typeface="Calibri"/>
              </a:rPr>
              <a:t>Práce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926080"/>
            <a:ext cx="237744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F5F7FA"/>
                </a:solidFill>
                <a:latin typeface="Calibri"/>
              </a:rPr>
              <a:t>▸  nový breakout → měření → přenos DOA kalibrace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3C5"/>
                </a:solidFill>
                <a:latin typeface="Calibri"/>
              </a:rPr>
              <a:t>het68  ·  LinuxDays 2026  ·  FOSS acoustic sensing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8B3C5"/>
                </a:solidFill>
                <a:latin typeface="Calibri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09728" cy="50292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Calibri"/>
              </a:rPr>
              <a:t>04  ·  DOA timing @ 400 mm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8B3C5"/>
                </a:solidFill>
                <a:latin typeface="Calibri"/>
              </a:rPr>
              <a:t>Proč hrana krychle a co z toho plyne pro rozlišení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11247120" cy="137160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7FA"/>
                </a:solidFill>
                <a:latin typeface="Calibri"/>
              </a:rPr>
              <a:t>Baseline (hrana)  →  max Δt ≈ a / c   ·   c ≈ 343 m/s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A8B3C5"/>
                </a:solidFill>
                <a:latin typeface="Calibri"/>
              </a:rPr>
              <a:t>Větší a  →  větší časový rozdíl  →  jemnější úhlové rozlišení (do limitu aliasingu / SNR)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3657600" cy="265176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15468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A8B3C5"/>
                </a:solidFill>
                <a:latin typeface="Calibri"/>
              </a:rPr>
              <a:t>300 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03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5F7FA"/>
                </a:solidFill>
                <a:latin typeface="Calibri"/>
              </a:rPr>
              <a:t>Δt ≈ 875 µs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605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7FA"/>
                </a:solidFill>
                <a:latin typeface="Calibri"/>
              </a:rPr>
              <a:t>~1.37° raw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7091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A8B3C5"/>
                </a:solidFill>
                <a:latin typeface="Calibri"/>
              </a:rPr>
              <a:t>kompaktnější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926080"/>
            <a:ext cx="3657600" cy="265176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926080"/>
            <a:ext cx="3657600" cy="73152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15468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DDC97"/>
                </a:solidFill>
                <a:latin typeface="Calibri"/>
              </a:rPr>
              <a:t>400 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703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5F7FA"/>
                </a:solidFill>
                <a:latin typeface="Calibri"/>
              </a:rPr>
              <a:t>Δt ≈ 1166 µs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1605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7FA"/>
                </a:solidFill>
                <a:latin typeface="Calibri"/>
              </a:rPr>
              <a:t>~1.02° raw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7091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A8B3C5"/>
                </a:solidFill>
                <a:latin typeface="Calibri"/>
              </a:rPr>
              <a:t>sweet spot vs. doprava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926080"/>
            <a:ext cx="3657600" cy="265176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15468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A8B3C5"/>
                </a:solidFill>
                <a:latin typeface="Calibri"/>
              </a:rPr>
              <a:t>500 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703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5F7FA"/>
                </a:solidFill>
                <a:latin typeface="Calibri"/>
              </a:rPr>
              <a:t>Δt ≈ 1458 µs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1605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7FA"/>
                </a:solidFill>
                <a:latin typeface="Calibri"/>
              </a:rPr>
              <a:t>~0.82° raw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7091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A8B3C5"/>
                </a:solidFill>
                <a:latin typeface="Calibri"/>
              </a:rPr>
              <a:t>lepší DOA, horší pack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3C5"/>
                </a:solidFill>
                <a:latin typeface="Calibri"/>
              </a:rPr>
              <a:t>het68  ·  LinuxDays 2026  ·  FOSS acoustic sensing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8B3C5"/>
                </a:solidFill>
                <a:latin typeface="Calibri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09728" cy="50292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Calibri"/>
              </a:rPr>
              <a:t>05  ·  PSRAM edge compute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8B3C5"/>
                </a:solidFill>
                <a:latin typeface="Calibri"/>
              </a:rPr>
              <a:t>Co běží na zařízení — a co záměrně 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486400" cy="475488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3DDC97"/>
                </a:solidFill>
                <a:latin typeface="Calibri"/>
              </a:rPr>
              <a:t>Na edge (RP2350 + PSRAM)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0292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5F7FA"/>
                </a:solidFill>
                <a:latin typeface="Calibri"/>
              </a:rPr>
              <a:t>▸  Ring buffery / delší audio history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F7FA"/>
                </a:solidFill>
                <a:latin typeface="Calibri"/>
              </a:rPr>
              <a:t>▸  DOA + klasifikace (heuristiky)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F7FA"/>
                </a:solidFill>
                <a:latin typeface="Calibri"/>
              </a:rPr>
              <a:t>▸  Entity store / track memory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F7FA"/>
                </a:solidFill>
                <a:latin typeface="Calibri"/>
              </a:rPr>
              <a:t>▸  DET log + NVR JSON export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F7FA"/>
                </a:solidFill>
                <a:latin typeface="Calibri"/>
              </a:rPr>
              <a:t>▸  CLI + UART gallery I/O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F7FA"/>
                </a:solidFill>
                <a:latin typeface="Calibri"/>
              </a:rPr>
              <a:t>▸  Nízká latence, offline capable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486400" cy="475488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B020"/>
                </a:solidFill>
                <a:latin typeface="Calibri"/>
              </a:rPr>
              <a:t>Ne / zatím 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50292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5F7FA"/>
                </a:solidFill>
                <a:latin typeface="Calibri"/>
              </a:rPr>
              <a:t>▸  Velké NN inference (heavy ML)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F7FA"/>
                </a:solidFill>
                <a:latin typeface="Calibri"/>
              </a:rPr>
              <a:t>▸  Dlouhodobý cloud training loop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F7FA"/>
                </a:solidFill>
                <a:latin typeface="Calibri"/>
              </a:rPr>
              <a:t>▸  Plná video NVR pipeline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F7FA"/>
                </a:solidFill>
                <a:latin typeface="Calibri"/>
              </a:rPr>
              <a:t>▸  Beacon RX / ranging (TX-only dnes)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5F7FA"/>
                </a:solidFill>
                <a:latin typeface="Calibri"/>
              </a:rPr>
              <a:t>▸  PSRAM ≠ nekonečná RAM — budget!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3C5"/>
                </a:solidFill>
                <a:latin typeface="Calibri"/>
              </a:rPr>
              <a:t>het68  ·  LinuxDays 2026  ·  FOSS acoustic sensing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8B3C5"/>
                </a:solidFill>
                <a:latin typeface="Calibri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09728" cy="50292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Calibri"/>
              </a:rPr>
              <a:t>PIO machine — high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8B3C5"/>
                </a:solidFill>
                <a:latin typeface="Calibri"/>
              </a:rPr>
              <a:t>Co to je a proč to v het68 používáme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11247120" cy="118872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5F7FA"/>
                </a:solidFill>
                <a:latin typeface="Calibri"/>
              </a:rPr>
              <a:t>PIO = malý programovatelný I/O procesor vedle CPU. Běží vlastní krátký program a přesně ovládá piny v čase — ideální pro protokoly jako I2S.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88920"/>
            <a:ext cx="3657600" cy="301752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5F7FA"/>
                </a:solidFill>
                <a:latin typeface="Calibri"/>
              </a:rPr>
              <a:t>CPU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1188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A"/>
                </a:solidFill>
                <a:latin typeface="Calibri"/>
              </a:rPr>
              <a:t>Aplikace, DOA, USB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7200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8B3C5"/>
                </a:solidFill>
                <a:latin typeface="Calibri"/>
              </a:rPr>
              <a:t>nesmí bit-bangovat audio clock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788920"/>
            <a:ext cx="3657600" cy="301752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301752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DDC97"/>
                </a:solidFill>
                <a:latin typeface="Calibri"/>
              </a:rPr>
              <a:t>PIO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61188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A"/>
                </a:solidFill>
                <a:latin typeface="Calibri"/>
              </a:rPr>
              <a:t>I2S timing &amp; serializace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57200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8B3C5"/>
                </a:solidFill>
                <a:latin typeface="Calibri"/>
              </a:rPr>
              <a:t>deterministické, cyklus přesné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788920"/>
            <a:ext cx="3657600" cy="301752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301752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5F7FA"/>
                </a:solidFill>
                <a:latin typeface="Calibri"/>
              </a:rPr>
              <a:t>DMA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61188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F5F7FA"/>
                </a:solidFill>
                <a:latin typeface="Calibri"/>
              </a:rPr>
              <a:t>přenos sample → 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57200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8B3C5"/>
                </a:solidFill>
                <a:latin typeface="Calibri"/>
              </a:rPr>
              <a:t>bez pollingu, nízká zátěž CPU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3C5"/>
                </a:solidFill>
                <a:latin typeface="Calibri"/>
              </a:rPr>
              <a:t>het68  ·  LinuxDays 2026  ·  FOSS acoustic sensing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8B3C5"/>
                </a:solidFill>
                <a:latin typeface="Calibri"/>
              </a:rP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09728" cy="50292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  <a:latin typeface="Calibri"/>
              </a:rPr>
              <a:t>PIO machine — tok v het68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A8B3C5"/>
                </a:solidFill>
                <a:latin typeface="Calibri"/>
              </a:rPr>
              <a:t>Od mikrofonu po USB / DSP — bez kódu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63040"/>
            <a:ext cx="2743200" cy="329184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63040" y="1691640"/>
            <a:ext cx="640080" cy="640080"/>
          </a:xfrm>
          <a:prstGeom prst="ellipse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78308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B1220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Calibri"/>
              </a:rPr>
              <a:t>Mikrofony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632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B3C5"/>
                </a:solidFill>
                <a:latin typeface="Calibri"/>
              </a:rPr>
              <a:t>3× stereo I2S
6 kanálů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8346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B9BFF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463040"/>
            <a:ext cx="2743200" cy="329184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89120" y="1691640"/>
            <a:ext cx="640080" cy="640080"/>
          </a:xfrm>
          <a:prstGeom prst="ellipse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78308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B1220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5146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Calibri"/>
              </a:rPr>
              <a:t>PIO RX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0632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B3C5"/>
                </a:solidFill>
                <a:latin typeface="Calibri"/>
              </a:rPr>
              <a:t>zachytí bity
podle clocků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8346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B9BFF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463040"/>
            <a:ext cx="2743200" cy="329184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0" y="1691640"/>
            <a:ext cx="640080" cy="640080"/>
          </a:xfrm>
          <a:prstGeom prst="ellipse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78308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B1220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5146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Calibri"/>
              </a:rPr>
              <a:t>DMA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0632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B3C5"/>
                </a:solidFill>
                <a:latin typeface="Calibri"/>
              </a:rPr>
              <a:t>ukládá sample
do bufferu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8346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B9BFF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1463040"/>
            <a:ext cx="2743200" cy="329184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41280" y="1691640"/>
            <a:ext cx="640080" cy="640080"/>
          </a:xfrm>
          <a:prstGeom prst="ellipse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0" y="178308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B1220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5146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5F7FA"/>
                </a:solidFill>
                <a:latin typeface="Calibri"/>
              </a:rPr>
              <a:t>Spotřebitelé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0632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B3C5"/>
                </a:solidFill>
                <a:latin typeface="Calibri"/>
              </a:rPr>
              <a:t>USB UAC2
+ DOA / classify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02920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2578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5F7FA"/>
                </a:solidFill>
                <a:latin typeface="Calibri"/>
              </a:rPr>
              <a:t>Takeaway: PIO drží audio timing. DMA drží propustnost. CPU dělá smysluplnou práci (USB + DOA) — ne hodinové bity.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8B3C5"/>
                </a:solidFill>
                <a:latin typeface="Calibri"/>
              </a:rPr>
              <a:t>het68  ·  LinuxDays 2026  ·  FOSS acoustic sensing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8B3C5"/>
                </a:solidFill>
                <a:latin typeface="Calibri"/>
              </a:rP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